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4.jpg" ContentType="image/pn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1" r:id="rId3"/>
    <p:sldId id="261" r:id="rId4"/>
    <p:sldId id="272" r:id="rId5"/>
    <p:sldId id="269" r:id="rId6"/>
    <p:sldId id="276" r:id="rId7"/>
    <p:sldId id="273" r:id="rId8"/>
    <p:sldId id="274" r:id="rId9"/>
    <p:sldId id="275" r:id="rId10"/>
    <p:sldId id="277" r:id="rId11"/>
    <p:sldId id="260" r:id="rId12"/>
  </p:sldIdLst>
  <p:sldSz cx="12192000" cy="6858000"/>
  <p:notesSz cx="6858000" cy="9144000"/>
  <p:embeddedFontLst>
    <p:embeddedFont>
      <p:font typeface="Cambria Math" panose="02040503050406030204" pitchFamily="18" charset="0"/>
      <p:regular r:id="rId14"/>
    </p:embeddedFont>
    <p:embeddedFont>
      <p:font typeface="Open Sans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2" pos="347" userDrawn="1">
          <p15:clr>
            <a:srgbClr val="000000"/>
          </p15:clr>
        </p15:guide>
        <p15:guide id="3" orient="horz" pos="1344" userDrawn="1">
          <p15:clr>
            <a:srgbClr val="A4A3A4"/>
          </p15:clr>
        </p15:guide>
        <p15:guide id="4" orient="horz" pos="98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5" roundtripDataSignature="AMtx7mg2fLzW2NWhC2ejww7VA5lENbgL/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3" clrIdx="0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65CAB"/>
    <a:srgbClr val="0046A2"/>
    <a:srgbClr val="D1D1D1"/>
    <a:srgbClr val="F1BE29"/>
    <a:srgbClr val="7BC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60" autoAdjust="0"/>
  </p:normalViewPr>
  <p:slideViewPr>
    <p:cSldViewPr snapToGrid="0">
      <p:cViewPr>
        <p:scale>
          <a:sx n="100" d="100"/>
          <a:sy n="100" d="100"/>
        </p:scale>
        <p:origin x="954" y="300"/>
      </p:cViewPr>
      <p:guideLst>
        <p:guide pos="347"/>
        <p:guide orient="horz" pos="1344"/>
        <p:guide orient="horz" pos="98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Титульный слайд" userDrawn="1">
  <p:cSld name="TITLE">
    <p:bg>
      <p:bgRef idx="1001">
        <a:schemeClr val="bg1"/>
      </p:bgRef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88;p1">
            <a:extLst>
              <a:ext uri="{FF2B5EF4-FFF2-40B4-BE49-F238E27FC236}">
                <a16:creationId xmlns:a16="http://schemas.microsoft.com/office/drawing/2014/main" id="{2D925FD8-DECC-4CD6-B8C0-B1ADCC5FA20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B0283559-7C69-4037-A5DE-025458FA127C}"/>
              </a:ext>
            </a:extLst>
          </p:cNvPr>
          <p:cNvGrpSpPr/>
          <p:nvPr userDrawn="1"/>
        </p:nvGrpSpPr>
        <p:grpSpPr>
          <a:xfrm>
            <a:off x="694478" y="633067"/>
            <a:ext cx="9502816" cy="4706741"/>
            <a:chOff x="694478" y="633067"/>
            <a:chExt cx="9502816" cy="4706741"/>
          </a:xfrm>
        </p:grpSpPr>
        <p:pic>
          <p:nvPicPr>
            <p:cNvPr id="9" name="Google Shape;13;p5">
              <a:extLst>
                <a:ext uri="{FF2B5EF4-FFF2-40B4-BE49-F238E27FC236}">
                  <a16:creationId xmlns:a16="http://schemas.microsoft.com/office/drawing/2014/main" id="{2F2230A9-DF50-482B-98EE-86D3A472B57F}"/>
                </a:ext>
              </a:extLst>
            </p:cNvPr>
            <p:cNvPicPr preferRelativeResize="0"/>
            <p:nvPr userDrawn="1"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94481" y="633067"/>
              <a:ext cx="9502813" cy="470674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8967D30A-87B4-4421-A52A-46DC79DD78AC}"/>
                </a:ext>
              </a:extLst>
            </p:cNvPr>
            <p:cNvSpPr/>
            <p:nvPr userDrawn="1"/>
          </p:nvSpPr>
          <p:spPr>
            <a:xfrm>
              <a:off x="694478" y="5306991"/>
              <a:ext cx="9502813" cy="28800"/>
            </a:xfrm>
            <a:prstGeom prst="rect">
              <a:avLst/>
            </a:prstGeom>
            <a:solidFill>
              <a:srgbClr val="E6E7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20BDE73-1EE8-4C18-91ED-1CD26511FE5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157539" y="611835"/>
            <a:ext cx="2361600" cy="721959"/>
          </a:xfrm>
          <a:prstGeom prst="rect">
            <a:avLst/>
          </a:prstGeom>
        </p:spPr>
      </p:pic>
      <p:sp>
        <p:nvSpPr>
          <p:cNvPr id="4" name="Google Shape;11;p5">
            <a:extLst>
              <a:ext uri="{FF2B5EF4-FFF2-40B4-BE49-F238E27FC236}">
                <a16:creationId xmlns:a16="http://schemas.microsoft.com/office/drawing/2014/main" id="{E3BFA7FB-261D-418C-AB36-0AE52A4CC41D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078287" y="831273"/>
            <a:ext cx="9119010" cy="3416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Open Sans"/>
              <a:buNone/>
              <a:defRPr sz="4400" b="0">
                <a:solidFill>
                  <a:schemeClr val="lt1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dirty="0"/>
              <a:t>Заголовок слайда</a:t>
            </a:r>
            <a:endParaRPr dirty="0"/>
          </a:p>
        </p:txBody>
      </p:sp>
      <p:sp>
        <p:nvSpPr>
          <p:cNvPr id="5" name="Google Shape;12;p5">
            <a:extLst>
              <a:ext uri="{FF2B5EF4-FFF2-40B4-BE49-F238E27FC236}">
                <a16:creationId xmlns:a16="http://schemas.microsoft.com/office/drawing/2014/main" id="{84D6A78E-BD41-4E16-8DD7-8CD3958FF54B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1078286" y="4363657"/>
            <a:ext cx="9119010" cy="96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  <a:sym typeface="Open Sans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ru-RU" dirty="0"/>
              <a:t>Подзаголовок слайда</a:t>
            </a:r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подзаголовок и объект" userDrawn="1">
  <p:cSld name="Заголовок, подзаголовок и объект">
    <p:bg>
      <p:bgRef idx="1001">
        <a:schemeClr val="bg1"/>
      </p:bgRef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body" idx="1" hasCustomPrompt="1"/>
          </p:nvPr>
        </p:nvSpPr>
        <p:spPr>
          <a:xfrm>
            <a:off x="558782" y="1778092"/>
            <a:ext cx="11196533" cy="4473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30" name="Google Shape;30;p8"/>
          <p:cNvSpPr txBox="1">
            <a:spLocks noGrp="1"/>
          </p:cNvSpPr>
          <p:nvPr>
            <p:ph type="body" idx="2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</a:p>
          <a:p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464BD804-D61C-41D4-836A-3F0D5620725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одзаголовок и Сравнение" userDrawn="1">
  <p:cSld name="Подзаголовок и Сравнение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3;p17">
            <a:extLst>
              <a:ext uri="{FF2B5EF4-FFF2-40B4-BE49-F238E27FC236}">
                <a16:creationId xmlns:a16="http://schemas.microsoft.com/office/drawing/2014/main" id="{A3BCCEBD-8EA8-458F-9BC3-430C03DA2D8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  <p:sp>
        <p:nvSpPr>
          <p:cNvPr id="8" name="Google Shape;47;p11">
            <a:extLst>
              <a:ext uri="{FF2B5EF4-FFF2-40B4-BE49-F238E27FC236}">
                <a16:creationId xmlns:a16="http://schemas.microsoft.com/office/drawing/2014/main" id="{BE73FDE2-AD6D-4536-979A-DFD5A5A120FB}"/>
              </a:ext>
            </a:extLst>
          </p:cNvPr>
          <p:cNvSpPr txBox="1">
            <a:spLocks noGrp="1"/>
          </p:cNvSpPr>
          <p:nvPr>
            <p:ph type="body" idx="13" hasCustomPrompt="1"/>
          </p:nvPr>
        </p:nvSpPr>
        <p:spPr>
          <a:xfrm>
            <a:off x="558781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9" name="Google Shape;48;p11">
            <a:extLst>
              <a:ext uri="{FF2B5EF4-FFF2-40B4-BE49-F238E27FC236}">
                <a16:creationId xmlns:a16="http://schemas.microsoft.com/office/drawing/2014/main" id="{CDC7DB9F-D126-4C0F-900F-3ED455B7D4B6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6241899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30;p8">
            <a:extLst>
              <a:ext uri="{FF2B5EF4-FFF2-40B4-BE49-F238E27FC236}">
                <a16:creationId xmlns:a16="http://schemas.microsoft.com/office/drawing/2014/main" id="{0A0C615F-D144-44C1-91C6-0FB98026FAD0}"/>
              </a:ext>
            </a:extLst>
          </p:cNvPr>
          <p:cNvSpPr txBox="1">
            <a:spLocks noGrp="1"/>
          </p:cNvSpPr>
          <p:nvPr>
            <p:ph type="body" idx="14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Подзаголовок слайда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83;p17">
            <a:extLst>
              <a:ext uri="{FF2B5EF4-FFF2-40B4-BE49-F238E27FC236}">
                <a16:creationId xmlns:a16="http://schemas.microsoft.com/office/drawing/2014/main" id="{3C33CCE7-3AA5-4E4A-9FB4-1EE49FE9D8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3;p17">
            <a:extLst>
              <a:ext uri="{FF2B5EF4-FFF2-40B4-BE49-F238E27FC236}">
                <a16:creationId xmlns:a16="http://schemas.microsoft.com/office/drawing/2014/main" id="{0CA1A5D0-6F6B-4B83-84EB-024B06E2BB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текст и объект" userDrawn="1">
  <p:cSld name="Заголовок, текст и объект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1301263"/>
            <a:ext cx="6735185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1301263"/>
            <a:ext cx="4784147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 hasCustomPrompt="1"/>
          </p:nvPr>
        </p:nvSpPr>
        <p:spPr>
          <a:xfrm>
            <a:off x="273628" y="1213658"/>
            <a:ext cx="4702029" cy="843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76" name="Google Shape;76;p16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311727"/>
            <a:ext cx="6735185" cy="5549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7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2057400"/>
            <a:ext cx="4702029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375ED264-9BE6-45D1-BEF5-3485B756C4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 hasCustomPrompt="1"/>
          </p:nvPr>
        </p:nvSpPr>
        <p:spPr>
          <a:xfrm>
            <a:off x="322118" y="1197033"/>
            <a:ext cx="4449907" cy="860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86" name="Google Shape;86;p18"/>
          <p:cNvSpPr>
            <a:spLocks noGrp="1"/>
          </p:cNvSpPr>
          <p:nvPr>
            <p:ph type="pic" idx="2" hasCustomPrompt="1"/>
          </p:nvPr>
        </p:nvSpPr>
        <p:spPr>
          <a:xfrm>
            <a:off x="5287096" y="238509"/>
            <a:ext cx="6582785" cy="5627304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29803"/>
              </a:srgbClr>
            </a:outerShdw>
          </a:effectLst>
        </p:spPr>
        <p:txBody>
          <a:bodyPr>
            <a:normAutofit/>
          </a:bodyPr>
          <a:lstStyle>
            <a:lvl1pPr>
              <a:defRPr sz="23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</a:lstStyle>
          <a:p>
            <a:r>
              <a:rPr lang="ru-RU" dirty="0"/>
              <a:t>Рисунок</a:t>
            </a:r>
          </a:p>
        </p:txBody>
      </p:sp>
      <p:sp>
        <p:nvSpPr>
          <p:cNvPr id="87" name="Google Shape;87;p18"/>
          <p:cNvSpPr txBox="1">
            <a:spLocks noGrp="1"/>
          </p:cNvSpPr>
          <p:nvPr>
            <p:ph type="body" idx="1" hasCustomPrompt="1"/>
          </p:nvPr>
        </p:nvSpPr>
        <p:spPr>
          <a:xfrm>
            <a:off x="322118" y="2057400"/>
            <a:ext cx="444990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BB71C74F-A570-498D-A002-6D7C372C65B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крывающий слайд пустой" userDrawn="1">
  <p:cSld name="Закрывающий слайд пустой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88;p1">
            <a:extLst>
              <a:ext uri="{FF2B5EF4-FFF2-40B4-BE49-F238E27FC236}">
                <a16:creationId xmlns:a16="http://schemas.microsoft.com/office/drawing/2014/main" id="{12BBAE2F-1E25-4B32-9650-086D0CA2FEB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857A83-5237-42B9-BA8A-BF8F445C1D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5410" y="2096584"/>
            <a:ext cx="1332000" cy="1332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F32500-0827-4423-A3B8-9538CB7A7CD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278526" y="2042584"/>
            <a:ext cx="4710383" cy="14400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5D1BD65-59E0-46AC-BC24-1B28D1FA30E4}"/>
              </a:ext>
            </a:extLst>
          </p:cNvPr>
          <p:cNvSpPr txBox="1"/>
          <p:nvPr userDrawn="1"/>
        </p:nvSpPr>
        <p:spPr>
          <a:xfrm>
            <a:off x="7849902" y="2522519"/>
            <a:ext cx="3048512" cy="48013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2800" dirty="0">
                <a:solidFill>
                  <a:schemeClr val="bg1"/>
                </a:solidFill>
                <a:latin typeface="ALS Sector Bold" pitchFamily="2" charset="0"/>
                <a:ea typeface="Roboto Black" panose="02000000000000000000" pitchFamily="2" charset="0"/>
              </a:rPr>
              <a:t>do.bmstu.ru</a:t>
            </a:r>
            <a:endParaRPr lang="ru-RU" sz="2800" dirty="0">
              <a:solidFill>
                <a:schemeClr val="bg1"/>
              </a:solidFill>
              <a:latin typeface="ALS Sector Bold" pitchFamily="2" charset="0"/>
              <a:ea typeface="Roboto Black" panose="02000000000000000000" pitchFamily="2" charset="0"/>
            </a:endParaRPr>
          </a:p>
        </p:txBody>
      </p:sp>
      <p:sp>
        <p:nvSpPr>
          <p:cNvPr id="32" name="Прямоугольник 58">
            <a:extLst>
              <a:ext uri="{FF2B5EF4-FFF2-40B4-BE49-F238E27FC236}">
                <a16:creationId xmlns:a16="http://schemas.microsoft.com/office/drawing/2014/main" id="{046CF162-1BBC-4CF7-9474-D6A32C635F92}"/>
              </a:ext>
            </a:extLst>
          </p:cNvPr>
          <p:cNvSpPr/>
          <p:nvPr userDrawn="1"/>
        </p:nvSpPr>
        <p:spPr>
          <a:xfrm flipH="1">
            <a:off x="10711835" y="2096584"/>
            <a:ext cx="130790" cy="1332000"/>
          </a:xfrm>
          <a:custGeom>
            <a:avLst/>
            <a:gdLst>
              <a:gd name="connsiteX0" fmla="*/ 0 w 424732"/>
              <a:gd name="connsiteY0" fmla="*/ 0 h 424732"/>
              <a:gd name="connsiteX1" fmla="*/ 424732 w 424732"/>
              <a:gd name="connsiteY1" fmla="*/ 0 h 424732"/>
              <a:gd name="connsiteX2" fmla="*/ 424732 w 424732"/>
              <a:gd name="connsiteY2" fmla="*/ 424732 h 424732"/>
              <a:gd name="connsiteX3" fmla="*/ 0 w 424732"/>
              <a:gd name="connsiteY3" fmla="*/ 424732 h 424732"/>
              <a:gd name="connsiteX4" fmla="*/ 0 w 424732"/>
              <a:gd name="connsiteY4" fmla="*/ 0 h 424732"/>
              <a:gd name="connsiteX0" fmla="*/ 0 w 425450"/>
              <a:gd name="connsiteY0" fmla="*/ 0 h 424732"/>
              <a:gd name="connsiteX1" fmla="*/ 424732 w 425450"/>
              <a:gd name="connsiteY1" fmla="*/ 0 h 424732"/>
              <a:gd name="connsiteX2" fmla="*/ 425450 w 425450"/>
              <a:gd name="connsiteY2" fmla="*/ 238890 h 424732"/>
              <a:gd name="connsiteX3" fmla="*/ 424732 w 425450"/>
              <a:gd name="connsiteY3" fmla="*/ 424732 h 424732"/>
              <a:gd name="connsiteX4" fmla="*/ 0 w 425450"/>
              <a:gd name="connsiteY4" fmla="*/ 424732 h 424732"/>
              <a:gd name="connsiteX5" fmla="*/ 0 w 425450"/>
              <a:gd name="connsiteY5" fmla="*/ 0 h 424732"/>
              <a:gd name="connsiteX0" fmla="*/ 425450 w 516890"/>
              <a:gd name="connsiteY0" fmla="*/ 238890 h 424732"/>
              <a:gd name="connsiteX1" fmla="*/ 424732 w 516890"/>
              <a:gd name="connsiteY1" fmla="*/ 424732 h 424732"/>
              <a:gd name="connsiteX2" fmla="*/ 0 w 516890"/>
              <a:gd name="connsiteY2" fmla="*/ 424732 h 424732"/>
              <a:gd name="connsiteX3" fmla="*/ 0 w 516890"/>
              <a:gd name="connsiteY3" fmla="*/ 0 h 424732"/>
              <a:gd name="connsiteX4" fmla="*/ 424732 w 516890"/>
              <a:gd name="connsiteY4" fmla="*/ 0 h 424732"/>
              <a:gd name="connsiteX5" fmla="*/ 516890 w 516890"/>
              <a:gd name="connsiteY5" fmla="*/ 330330 h 424732"/>
              <a:gd name="connsiteX0" fmla="*/ 424732 w 516890"/>
              <a:gd name="connsiteY0" fmla="*/ 424732 h 424732"/>
              <a:gd name="connsiteX1" fmla="*/ 0 w 516890"/>
              <a:gd name="connsiteY1" fmla="*/ 424732 h 424732"/>
              <a:gd name="connsiteX2" fmla="*/ 0 w 516890"/>
              <a:gd name="connsiteY2" fmla="*/ 0 h 424732"/>
              <a:gd name="connsiteX3" fmla="*/ 424732 w 516890"/>
              <a:gd name="connsiteY3" fmla="*/ 0 h 424732"/>
              <a:gd name="connsiteX4" fmla="*/ 516890 w 516890"/>
              <a:gd name="connsiteY4" fmla="*/ 330330 h 424732"/>
              <a:gd name="connsiteX0" fmla="*/ 424732 w 424732"/>
              <a:gd name="connsiteY0" fmla="*/ 424732 h 424732"/>
              <a:gd name="connsiteX1" fmla="*/ 0 w 424732"/>
              <a:gd name="connsiteY1" fmla="*/ 424732 h 424732"/>
              <a:gd name="connsiteX2" fmla="*/ 0 w 424732"/>
              <a:gd name="connsiteY2" fmla="*/ 0 h 424732"/>
              <a:gd name="connsiteX3" fmla="*/ 424732 w 424732"/>
              <a:gd name="connsiteY3" fmla="*/ 0 h 424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4732" h="424732">
                <a:moveTo>
                  <a:pt x="424732" y="424732"/>
                </a:moveTo>
                <a:lnTo>
                  <a:pt x="0" y="424732"/>
                </a:lnTo>
                <a:lnTo>
                  <a:pt x="0" y="0"/>
                </a:lnTo>
                <a:lnTo>
                  <a:pt x="424732" y="0"/>
                </a:lnTo>
              </a:path>
            </a:pathLst>
          </a:cu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>
              <a:latin typeface="ALS Sector Regular" panose="020000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E8EEF78-8EFF-47ED-8447-A3A1F67B89B9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420566" y="446017"/>
            <a:ext cx="2361600" cy="722882"/>
          </a:xfrm>
          <a:prstGeom prst="rect">
            <a:avLst/>
          </a:prstGeom>
        </p:spPr>
      </p:pic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420566" y="1301777"/>
            <a:ext cx="11350868" cy="4924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 sz="20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▪"/>
              <a:defRPr sz="16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ru-RU" dirty="0"/>
              <a:t>Текст слайда</a:t>
            </a:r>
            <a:endParaRPr lang="en-US" sz="2300" dirty="0">
              <a:latin typeface="ALS Sector Regular" panose="02000000000000000000" pitchFamily="2" charset="0"/>
              <a:cs typeface="ALS Sector Regular" panose="02000000000000000000" pitchFamily="2" charset="0"/>
            </a:endParaRPr>
          </a:p>
          <a:p>
            <a:endParaRPr dirty="0"/>
          </a:p>
        </p:txBody>
      </p:sp>
      <p:sp>
        <p:nvSpPr>
          <p:cNvPr id="8" name="Google Shape;8;p4"/>
          <p:cNvSpPr txBox="1">
            <a:spLocks noGrp="1"/>
          </p:cNvSpPr>
          <p:nvPr>
            <p:ph type="sldNum" idx="12"/>
          </p:nvPr>
        </p:nvSpPr>
        <p:spPr>
          <a:xfrm>
            <a:off x="668287" y="6360806"/>
            <a:ext cx="83819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7" r:id="rId3"/>
    <p:sldLayoutId id="2147483658" r:id="rId4"/>
    <p:sldLayoutId id="2147483659" r:id="rId5"/>
    <p:sldLayoutId id="2147483661" r:id="rId6"/>
    <p:sldLayoutId id="2147483660" r:id="rId7"/>
    <p:sldLayoutId id="2147483662" r:id="rId8"/>
    <p:sldLayoutId id="2147483651" r:id="rId9"/>
  </p:sldLayoutIdLst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76200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2300" b="0" i="0" u="none" strike="noStrike" cap="none" baseline="0">
          <a:solidFill>
            <a:srgbClr val="000000"/>
          </a:solidFill>
          <a:latin typeface="+mn-lt"/>
          <a:ea typeface="ALS Sector Regular" panose="02000000000000000000" pitchFamily="2" charset="0"/>
          <a:cs typeface="ALS Sector Regular" panose="02000000000000000000" pitchFamily="2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emf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74598A-8D69-4EDC-8A16-7BF4EA8474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4914" y="2203269"/>
            <a:ext cx="10585269" cy="1225731"/>
          </a:xfrm>
        </p:spPr>
        <p:txBody>
          <a:bodyPr/>
          <a:lstStyle/>
          <a:p>
            <a:pPr algn="ctr"/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Прогнозирование конечных свойств новых материалов (композиционных материалов)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0C45695-17CA-4F1C-9AC0-19290977FA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500" y="4424619"/>
            <a:ext cx="9932917" cy="874168"/>
          </a:xfrm>
        </p:spPr>
        <p:txBody>
          <a:bodyPr/>
          <a:lstStyle/>
          <a:p>
            <a:pPr algn="ctr"/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Слушатель:    Горшков Андрей Вячеславович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3859654-30AC-457E-8701-4F1F0EB71D78}"/>
              </a:ext>
            </a:extLst>
          </p:cNvPr>
          <p:cNvSpPr/>
          <p:nvPr/>
        </p:nvSpPr>
        <p:spPr>
          <a:xfrm>
            <a:off x="10220226" y="4589611"/>
            <a:ext cx="1631472" cy="197322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65" name="Группа 64">
            <a:extLst>
              <a:ext uri="{FF2B5EF4-FFF2-40B4-BE49-F238E27FC236}">
                <a16:creationId xmlns:a16="http://schemas.microsoft.com/office/drawing/2014/main" id="{9280711C-2262-4089-92EE-9BEACCC60C4C}"/>
              </a:ext>
            </a:extLst>
          </p:cNvPr>
          <p:cNvGrpSpPr/>
          <p:nvPr/>
        </p:nvGrpSpPr>
        <p:grpSpPr>
          <a:xfrm>
            <a:off x="3276601" y="478818"/>
            <a:ext cx="5476874" cy="666000"/>
            <a:chOff x="1476753" y="3499669"/>
            <a:chExt cx="4619247" cy="666000"/>
          </a:xfrm>
        </p:grpSpPr>
        <p:sp>
          <p:nvSpPr>
            <p:cNvPr id="68" name="Прямоугольник 67">
              <a:extLst>
                <a:ext uri="{FF2B5EF4-FFF2-40B4-BE49-F238E27FC236}">
                  <a16:creationId xmlns:a16="http://schemas.microsoft.com/office/drawing/2014/main" id="{E2535886-3476-4B40-9706-6797B77905C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Датасет </a:t>
              </a:r>
            </a:p>
            <a:p>
              <a:pPr algn="ctr"/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ru-RU" sz="22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после объединения отдельных его частей </a:t>
              </a:r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ru-RU" sz="2200" spc="180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Прямоугольник 58">
              <a:extLst>
                <a:ext uri="{FF2B5EF4-FFF2-40B4-BE49-F238E27FC236}">
                  <a16:creationId xmlns:a16="http://schemas.microsoft.com/office/drawing/2014/main" id="{96789138-2397-49AA-BF3A-A6B5B90E884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70" name="Прямоугольник 58">
              <a:extLst>
                <a:ext uri="{FF2B5EF4-FFF2-40B4-BE49-F238E27FC236}">
                  <a16:creationId xmlns:a16="http://schemas.microsoft.com/office/drawing/2014/main" id="{DA239952-60E1-45EB-BDF0-422CC4CF7E4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7626E7F-3C06-4135-A6EF-C003C1F51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459" y="1245324"/>
            <a:ext cx="9015636" cy="533289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072C347-5537-4ED5-82FE-B93668F900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6" y="1941736"/>
            <a:ext cx="214788" cy="3074398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82639AA5-746D-46A3-AB1C-C7C7CD1996E6}"/>
              </a:ext>
            </a:extLst>
          </p:cNvPr>
          <p:cNvSpPr/>
          <p:nvPr/>
        </p:nvSpPr>
        <p:spPr>
          <a:xfrm>
            <a:off x="9990024" y="3253873"/>
            <a:ext cx="212196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базовый датасет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0" name="Номер слайда 3">
            <a:extLst>
              <a:ext uri="{FF2B5EF4-FFF2-40B4-BE49-F238E27FC236}">
                <a16:creationId xmlns:a16="http://schemas.microsoft.com/office/drawing/2014/main" id="{5AC04CF9-07A2-4A0E-B56B-7126EA1990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1AB63E3-0038-492A-879C-A37C60EEB3C3}"/>
              </a:ext>
            </a:extLst>
          </p:cNvPr>
          <p:cNvSpPr/>
          <p:nvPr/>
        </p:nvSpPr>
        <p:spPr>
          <a:xfrm>
            <a:off x="10220226" y="4561035"/>
            <a:ext cx="16534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 </a:t>
            </a:r>
            <a:r>
              <a:rPr lang="ru-RU" b="1" u="sng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Предположение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Первые 23 строки являются планом многофакторного </a:t>
            </a:r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эксперимента.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Следовательно, данные в этих строках являются достоверными. </a:t>
            </a:r>
          </a:p>
        </p:txBody>
      </p:sp>
    </p:spTree>
    <p:extLst>
      <p:ext uri="{BB962C8B-B14F-4D97-AF65-F5344CB8AC3E}">
        <p14:creationId xmlns:p14="http://schemas.microsoft.com/office/powerpoint/2010/main" val="1713928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A68FC8-8839-4BD0-A8B6-0C8B1924A8F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B431A07B-4120-45A8-87F5-FD0B7543B02C}"/>
              </a:ext>
            </a:extLst>
          </p:cNvPr>
          <p:cNvGrpSpPr/>
          <p:nvPr/>
        </p:nvGrpSpPr>
        <p:grpSpPr>
          <a:xfrm>
            <a:off x="3167880" y="469293"/>
            <a:ext cx="6037080" cy="666000"/>
            <a:chOff x="1476753" y="3499669"/>
            <a:chExt cx="4619247" cy="666000"/>
          </a:xfrm>
        </p:grpSpPr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B408C17F-C4A9-45C8-85FF-C29DBCECDC7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Пайплайны обработки датасетов 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Прямоугольник 58">
              <a:extLst>
                <a:ext uri="{FF2B5EF4-FFF2-40B4-BE49-F238E27FC236}">
                  <a16:creationId xmlns:a16="http://schemas.microsoft.com/office/drawing/2014/main" id="{8A2D04C4-68FF-4B8C-B3A7-621C55C3D8E2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9DDB7652-1549-4D3B-8E35-D14E582606C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6B66895-ADE4-4D4F-8543-738FD39F6728}"/>
              </a:ext>
            </a:extLst>
          </p:cNvPr>
          <p:cNvSpPr/>
          <p:nvPr/>
        </p:nvSpPr>
        <p:spPr>
          <a:xfrm>
            <a:off x="8012086" y="1443047"/>
            <a:ext cx="387511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обработки базового датасета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A4A0511-D0D9-4AC3-A26B-066BEC1B683D}"/>
              </a:ext>
            </a:extLst>
          </p:cNvPr>
          <p:cNvSpPr/>
          <p:nvPr/>
        </p:nvSpPr>
        <p:spPr>
          <a:xfrm>
            <a:off x="7977639" y="3131789"/>
            <a:ext cx="381376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обработки полного датасета (1023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1716F2-1B6C-4EE0-853D-61E37B9BC0E6}"/>
              </a:ext>
            </a:extLst>
          </p:cNvPr>
          <p:cNvSpPr/>
          <p:nvPr/>
        </p:nvSpPr>
        <p:spPr>
          <a:xfrm>
            <a:off x="7973161" y="5385755"/>
            <a:ext cx="407079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обработки очищенного датасета (</a:t>
            </a:r>
            <a:r>
              <a:rPr lang="en-US" sz="1800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строк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B83CCD4-B227-4F7D-B4FF-61CDCE49B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3" y="1378119"/>
            <a:ext cx="6705599" cy="738621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E5C47C8A-3BC4-4810-881E-E4D8287986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572" y="4759129"/>
            <a:ext cx="6705600" cy="1924050"/>
          </a:xfrm>
          <a:prstGeom prst="rect">
            <a:avLst/>
          </a:prstGeom>
        </p:spPr>
      </p:pic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2DF11CB4-37C6-4C10-B984-6535EC886524}"/>
              </a:ext>
            </a:extLst>
          </p:cNvPr>
          <p:cNvCxnSpPr/>
          <p:nvPr/>
        </p:nvCxnSpPr>
        <p:spPr>
          <a:xfrm>
            <a:off x="522514" y="229905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03F55AC7-6FB7-42DF-9FDA-1F800989EE7C}"/>
              </a:ext>
            </a:extLst>
          </p:cNvPr>
          <p:cNvCxnSpPr/>
          <p:nvPr/>
        </p:nvCxnSpPr>
        <p:spPr>
          <a:xfrm>
            <a:off x="548640" y="459376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C2F2B3B3-F57A-430D-A7F4-CAA66F1ED0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3572" y="2475684"/>
            <a:ext cx="6705600" cy="192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525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FBD290E7-1BB2-4A31-BB4F-8BF4377A1C02}"/>
              </a:ext>
            </a:extLst>
          </p:cNvPr>
          <p:cNvSpPr/>
          <p:nvPr/>
        </p:nvSpPr>
        <p:spPr>
          <a:xfrm>
            <a:off x="1522918" y="1920127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10E54A0B-A97E-4EA1-8C0B-D58497B01CD3}"/>
              </a:ext>
            </a:extLst>
          </p:cNvPr>
          <p:cNvSpPr/>
          <p:nvPr/>
        </p:nvSpPr>
        <p:spPr>
          <a:xfrm>
            <a:off x="6617417" y="1923410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Номер слайда 3">
            <a:extLst>
              <a:ext uri="{FF2B5EF4-FFF2-40B4-BE49-F238E27FC236}">
                <a16:creationId xmlns:a16="http://schemas.microsoft.com/office/drawing/2014/main" id="{542A9EF0-C372-49E0-A6DB-C1F10C19AA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68AC1BDB-9797-4A12-B4FC-ED5D4C2B9CD1}"/>
              </a:ext>
            </a:extLst>
          </p:cNvPr>
          <p:cNvGrpSpPr/>
          <p:nvPr/>
        </p:nvGrpSpPr>
        <p:grpSpPr>
          <a:xfrm>
            <a:off x="4404498" y="504127"/>
            <a:ext cx="3835398" cy="666000"/>
            <a:chOff x="1476753" y="3499669"/>
            <a:chExt cx="4619247" cy="666000"/>
          </a:xfrm>
        </p:grpSpPr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89C13AD3-6AFD-447D-B4AF-345F80DAE2D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Фильтрация шума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Прямоугольник 58">
              <a:extLst>
                <a:ext uri="{FF2B5EF4-FFF2-40B4-BE49-F238E27FC236}">
                  <a16:creationId xmlns:a16="http://schemas.microsoft.com/office/drawing/2014/main" id="{6B9297EB-1310-4C5F-A390-8C10AE4D1F31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23" name="Прямоугольник 58">
              <a:extLst>
                <a:ext uri="{FF2B5EF4-FFF2-40B4-BE49-F238E27FC236}">
                  <a16:creationId xmlns:a16="http://schemas.microsoft.com/office/drawing/2014/main" id="{2A56CCB7-652F-4E87-98F1-EB2990DFF5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DB5EEA5-266D-42C2-B81C-6B35AF8F92AA}"/>
              </a:ext>
            </a:extLst>
          </p:cNvPr>
          <p:cNvSpPr/>
          <p:nvPr/>
        </p:nvSpPr>
        <p:spPr>
          <a:xfrm>
            <a:off x="2390393" y="4893069"/>
            <a:ext cx="22498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а) полный датасет                                               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4C270FB-B1F0-45EB-8169-CF8753ED9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722" y="5353397"/>
            <a:ext cx="133350" cy="1333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41D7A58-E79B-4176-82B9-AB1AC6823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5370" y="5686745"/>
            <a:ext cx="95250" cy="952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8AF0B97-0A70-4819-BDAD-84323790F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5370" y="5967947"/>
            <a:ext cx="95250" cy="95250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BB613F2-C593-4543-88E0-E7EA89550219}"/>
              </a:ext>
            </a:extLst>
          </p:cNvPr>
          <p:cNvSpPr/>
          <p:nvPr/>
        </p:nvSpPr>
        <p:spPr>
          <a:xfrm>
            <a:off x="1797812" y="5252535"/>
            <a:ext cx="368562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наблюдения базового датасета (23 строки); </a:t>
            </a:r>
            <a:endParaRPr lang="ru-RU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84B3694-5F26-4F60-A0CB-CADE3C72ED26}"/>
              </a:ext>
            </a:extLst>
          </p:cNvPr>
          <p:cNvSpPr/>
          <p:nvPr/>
        </p:nvSpPr>
        <p:spPr>
          <a:xfrm>
            <a:off x="1797812" y="5550265"/>
            <a:ext cx="357341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остальные наблюдения полного датасета; </a:t>
            </a:r>
            <a:endParaRPr lang="ru-RU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98961FF-1BE6-4B63-AC0A-1BF047BF8817}"/>
              </a:ext>
            </a:extLst>
          </p:cNvPr>
          <p:cNvSpPr/>
          <p:nvPr/>
        </p:nvSpPr>
        <p:spPr>
          <a:xfrm>
            <a:off x="1797812" y="5843069"/>
            <a:ext cx="393679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наблюдения, ближайшие к наблюдениям</a:t>
            </a:r>
          </a:p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  базового датасета («ближайшие соседи»); </a:t>
            </a:r>
            <a:endParaRPr lang="ru-RU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28623D23-F566-491C-9F2F-D3B7B8B94C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857" y="5418841"/>
            <a:ext cx="95250" cy="95250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225BB7DA-68EA-41FF-AEB6-DD56675AF0C4}"/>
              </a:ext>
            </a:extLst>
          </p:cNvPr>
          <p:cNvSpPr/>
          <p:nvPr/>
        </p:nvSpPr>
        <p:spPr>
          <a:xfrm>
            <a:off x="7174299" y="5293963"/>
            <a:ext cx="28307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наблюдения, оставшиеся после </a:t>
            </a:r>
          </a:p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  фильтрации  полного  датасета; </a:t>
            </a:r>
            <a:endParaRPr lang="ru-RU" dirty="0"/>
          </a:p>
        </p:txBody>
      </p:sp>
      <p:cxnSp>
        <p:nvCxnSpPr>
          <p:cNvPr id="30" name="Прямая соединительная линия 29">
            <a:extLst>
              <a:ext uri="{FF2B5EF4-FFF2-40B4-BE49-F238E27FC236}">
                <a16:creationId xmlns:a16="http://schemas.microsoft.com/office/drawing/2014/main" id="{4239E8A4-8F74-41AA-8841-BA9529E9F957}"/>
              </a:ext>
            </a:extLst>
          </p:cNvPr>
          <p:cNvCxnSpPr>
            <a:cxnSpLocks/>
          </p:cNvCxnSpPr>
          <p:nvPr/>
        </p:nvCxnSpPr>
        <p:spPr>
          <a:xfrm>
            <a:off x="1340032" y="6481903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56CB3DD-440A-41EC-80DA-2DC3703B0CCA}"/>
              </a:ext>
            </a:extLst>
          </p:cNvPr>
          <p:cNvSpPr/>
          <p:nvPr/>
        </p:nvSpPr>
        <p:spPr>
          <a:xfrm>
            <a:off x="1928834" y="6317362"/>
            <a:ext cx="28664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полного датасета.</a:t>
            </a:r>
            <a:endParaRPr lang="ru-RU" dirty="0"/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A1C7BAFB-D2F7-4B49-8A9E-3E692B9C2579}"/>
              </a:ext>
            </a:extLst>
          </p:cNvPr>
          <p:cNvCxnSpPr>
            <a:cxnSpLocks/>
          </p:cNvCxnSpPr>
          <p:nvPr/>
        </p:nvCxnSpPr>
        <p:spPr>
          <a:xfrm>
            <a:off x="6752401" y="5984800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76292F8-8836-4063-9FA8-6AD9B77EED9C}"/>
              </a:ext>
            </a:extLst>
          </p:cNvPr>
          <p:cNvSpPr/>
          <p:nvPr/>
        </p:nvSpPr>
        <p:spPr>
          <a:xfrm>
            <a:off x="7323785" y="5802841"/>
            <a:ext cx="318067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очищенного датасета.</a:t>
            </a:r>
            <a:endParaRPr lang="ru-RU" dirty="0"/>
          </a:p>
        </p:txBody>
      </p:sp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BA1C4FA2-6EB8-4E22-A241-0B652F47B9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8962" y="1879344"/>
            <a:ext cx="3812263" cy="2993523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C0932A2A-F931-4D3E-8D0A-1AA2C75BB0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9044" y="1889428"/>
            <a:ext cx="3653401" cy="3003146"/>
          </a:xfrm>
          <a:prstGeom prst="rect">
            <a:avLst/>
          </a:prstGeom>
        </p:spPr>
      </p:pic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CD64A13E-AD0E-46CC-B147-4C100E174E0A}"/>
              </a:ext>
            </a:extLst>
          </p:cNvPr>
          <p:cNvSpPr/>
          <p:nvPr/>
        </p:nvSpPr>
        <p:spPr>
          <a:xfrm>
            <a:off x="6936759" y="4913346"/>
            <a:ext cx="32127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б) очищенный датасет (</a:t>
            </a:r>
            <a:r>
              <a:rPr lang="en-US" sz="1800" i="1" dirty="0" err="1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 err="1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39" name="Стрелка: вниз 38">
            <a:extLst>
              <a:ext uri="{FF2B5EF4-FFF2-40B4-BE49-F238E27FC236}">
                <a16:creationId xmlns:a16="http://schemas.microsoft.com/office/drawing/2014/main" id="{67106706-FAC9-4EBC-964E-853E5AA4192B}"/>
              </a:ext>
            </a:extLst>
          </p:cNvPr>
          <p:cNvSpPr/>
          <p:nvPr/>
        </p:nvSpPr>
        <p:spPr>
          <a:xfrm rot="16200000">
            <a:off x="5936250" y="3064333"/>
            <a:ext cx="341815" cy="600891"/>
          </a:xfrm>
          <a:prstGeom prst="downArrow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06423A47-1AB7-4AAF-8DF3-ED448A13BB94}"/>
              </a:ext>
            </a:extLst>
          </p:cNvPr>
          <p:cNvSpPr/>
          <p:nvPr/>
        </p:nvSpPr>
        <p:spPr>
          <a:xfrm>
            <a:off x="2149922" y="1121134"/>
            <a:ext cx="836567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очистки датасета от помех и шума разработан фильтр, </a:t>
            </a:r>
          </a:p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ядром (маской) которого являются наблюдения (строки) базового датасета</a:t>
            </a:r>
            <a:endParaRPr lang="ru-RU" sz="2800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056FA315-1EE2-42F9-9F50-F92A04D77A77}"/>
              </a:ext>
            </a:extLst>
          </p:cNvPr>
          <p:cNvSpPr/>
          <p:nvPr/>
        </p:nvSpPr>
        <p:spPr>
          <a:xfrm>
            <a:off x="5421225" y="6202596"/>
            <a:ext cx="6656478" cy="4462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50" b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Примечание. </a:t>
            </a:r>
            <a:r>
              <a:rPr lang="ru-RU" sz="11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Если последние 1000 строк датасета сгенерированы случайным образом, то данную </a:t>
            </a:r>
          </a:p>
          <a:p>
            <a:r>
              <a:rPr lang="ru-RU" sz="11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процедуру следует рассматривать не как фильтрацию датасета, а как размножение базового датасета.</a:t>
            </a:r>
            <a:endParaRPr lang="ru-RU" sz="1150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8718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6555008-558A-4705-ADA6-A99A535D9A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F324A62E-A256-4354-8835-CFA3C09136B2}"/>
              </a:ext>
            </a:extLst>
          </p:cNvPr>
          <p:cNvGrpSpPr/>
          <p:nvPr/>
        </p:nvGrpSpPr>
        <p:grpSpPr>
          <a:xfrm>
            <a:off x="3167880" y="469293"/>
            <a:ext cx="6212171" cy="666000"/>
            <a:chOff x="1476753" y="3499669"/>
            <a:chExt cx="4619247" cy="666000"/>
          </a:xfrm>
        </p:grpSpPr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E589737A-BA23-46A0-A36B-BE16171D8E61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фильтрации датасета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Прямоугольник 58">
              <a:extLst>
                <a:ext uri="{FF2B5EF4-FFF2-40B4-BE49-F238E27FC236}">
                  <a16:creationId xmlns:a16="http://schemas.microsoft.com/office/drawing/2014/main" id="{1C3517E3-F6E0-4F52-AEE5-DC80364E562C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7" name="Прямоугольник 58">
              <a:extLst>
                <a:ext uri="{FF2B5EF4-FFF2-40B4-BE49-F238E27FC236}">
                  <a16:creationId xmlns:a16="http://schemas.microsoft.com/office/drawing/2014/main" id="{CEC88DFA-D330-4EAE-893E-A44623A39FD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B43908E-9AC0-493F-94AA-6F7F6D2860F4}"/>
              </a:ext>
            </a:extLst>
          </p:cNvPr>
          <p:cNvSpPr/>
          <p:nvPr/>
        </p:nvSpPr>
        <p:spPr>
          <a:xfrm>
            <a:off x="3131808" y="1405305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6BA7224A-E563-4B21-966D-AEAF68241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62" y="4884431"/>
            <a:ext cx="11495314" cy="1247455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95A713B-0B61-42CB-A6B6-6AB79004F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951" y="2569081"/>
            <a:ext cx="9469263" cy="1208030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94001FBA-9484-416A-B5D7-70DCE30AD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2214" y="2527314"/>
            <a:ext cx="2094414" cy="1258390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D31B3FF-9EA6-49A4-82F9-F5DA991976C6}"/>
              </a:ext>
            </a:extLst>
          </p:cNvPr>
          <p:cNvSpPr/>
          <p:nvPr/>
        </p:nvSpPr>
        <p:spPr>
          <a:xfrm>
            <a:off x="3248771" y="2063466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BA22545-60E8-4CE1-9B08-3D7F26D9C0E6}"/>
              </a:ext>
            </a:extLst>
          </p:cNvPr>
          <p:cNvSpPr/>
          <p:nvPr/>
        </p:nvSpPr>
        <p:spPr>
          <a:xfrm>
            <a:off x="3259404" y="4398749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2000" i="1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2000" i="1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2381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AB1EC7D-139A-48C3-A046-03EA68907BC3}"/>
              </a:ext>
            </a:extLst>
          </p:cNvPr>
          <p:cNvSpPr/>
          <p:nvPr/>
        </p:nvSpPr>
        <p:spPr>
          <a:xfrm>
            <a:off x="9571644" y="2578408"/>
            <a:ext cx="1885837" cy="738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60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C65CC0B-5E0B-4E5B-B4A9-58F4F8F1422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03DCA265-CB8A-4807-9732-4FD3A2A88269}"/>
              </a:ext>
            </a:extLst>
          </p:cNvPr>
          <p:cNvGrpSpPr/>
          <p:nvPr/>
        </p:nvGrpSpPr>
        <p:grpSpPr>
          <a:xfrm>
            <a:off x="2690949" y="469293"/>
            <a:ext cx="9425582" cy="666000"/>
            <a:chOff x="1352313" y="3499669"/>
            <a:chExt cx="4830153" cy="666000"/>
          </a:xfrm>
        </p:grpSpPr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1EC64377-F3EF-4898-A7EF-A96EE85C8064}"/>
                </a:ext>
              </a:extLst>
            </p:cNvPr>
            <p:cNvSpPr/>
            <p:nvPr/>
          </p:nvSpPr>
          <p:spPr>
            <a:xfrm>
              <a:off x="1352313" y="3499669"/>
              <a:ext cx="4830153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Коэффициенты корреляции</a:t>
              </a:r>
              <a:r>
                <a:rPr lang="en-US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</a:t>
              </a:r>
              <a:endParaRPr lang="ru-RU" sz="2800" spc="180" dirty="0">
                <a:ln>
                  <a:solidFill>
                    <a:srgbClr val="065CAB"/>
                  </a:solidFill>
                </a:ln>
                <a:solidFill>
                  <a:srgbClr val="065CA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Расчет коэффициента детерминации </a:t>
              </a:r>
              <a:r>
                <a:rPr lang="en-US" sz="28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en-US" sz="2800" spc="180" baseline="3000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ru-RU" sz="2800" spc="180" baseline="3000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для МНК 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Прямоугольник 58">
              <a:extLst>
                <a:ext uri="{FF2B5EF4-FFF2-40B4-BE49-F238E27FC236}">
                  <a16:creationId xmlns:a16="http://schemas.microsoft.com/office/drawing/2014/main" id="{CBA70D64-1A83-4E56-B4F7-DE12AD0F7146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CDD1DBB6-5CDC-476B-9F20-E0C36873BE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965774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6EE43AA-D3CC-4F2A-8C95-378C2090E1F9}"/>
              </a:ext>
            </a:extLst>
          </p:cNvPr>
          <p:cNvSpPr/>
          <p:nvPr/>
        </p:nvSpPr>
        <p:spPr>
          <a:xfrm>
            <a:off x="2168433" y="1782703"/>
            <a:ext cx="316810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1800" dirty="0">
              <a:solidFill>
                <a:schemeClr val="tx1"/>
              </a:solidFill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0B23F40-E80C-4EDD-BE8E-9DEC91F01383}"/>
              </a:ext>
            </a:extLst>
          </p:cNvPr>
          <p:cNvSpPr/>
          <p:nvPr/>
        </p:nvSpPr>
        <p:spPr>
          <a:xfrm>
            <a:off x="2522205" y="1379176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35BDAAC-3815-41DD-9D7A-E57E76407B6C}"/>
              </a:ext>
            </a:extLst>
          </p:cNvPr>
          <p:cNvSpPr/>
          <p:nvPr/>
        </p:nvSpPr>
        <p:spPr>
          <a:xfrm>
            <a:off x="5544111" y="1779542"/>
            <a:ext cx="331615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1800" i="1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/>
              <p:nvPr/>
            </p:nvSpPr>
            <p:spPr>
              <a:xfrm>
                <a:off x="9564624" y="2613244"/>
                <a:ext cx="1885837" cy="63927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ru-RU" sz="18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sz="180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𝑑𝑒𝑡</m:t>
                          </m:r>
                          <m:sSup>
                            <m:sSup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ru-RU" sz="18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num>
                        <m:den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𝑑𝑒𝑡𝐴</m:t>
                          </m:r>
                        </m:den>
                      </m:f>
                    </m:oMath>
                  </m:oMathPara>
                </a14:m>
                <a:endParaRPr lang="ru-RU" sz="1600" dirty="0"/>
              </a:p>
            </p:txBody>
          </p:sp>
        </mc:Choice>
        <mc:Fallback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4624" y="2613244"/>
                <a:ext cx="1885837" cy="6392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63762490-3982-421E-8019-EE77C0C2C2D1}"/>
              </a:ext>
            </a:extLst>
          </p:cNvPr>
          <p:cNvSpPr/>
          <p:nvPr/>
        </p:nvSpPr>
        <p:spPr>
          <a:xfrm>
            <a:off x="8880317" y="4493172"/>
            <a:ext cx="323621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dirty="0"/>
              <a:t> 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 парных коэффициентов межфакторной корреляции</a:t>
            </a:r>
            <a:r>
              <a:rPr lang="en-US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(между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признаками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).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3F77FDD-0155-422E-B0B8-56C1288F637B}"/>
              </a:ext>
            </a:extLst>
          </p:cNvPr>
          <p:cNvSpPr/>
          <p:nvPr/>
        </p:nvSpPr>
        <p:spPr>
          <a:xfrm>
            <a:off x="8903533" y="3600125"/>
            <a:ext cx="323621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i="1" baseline="3000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dirty="0"/>
              <a:t> 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парных коэффициентов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корреляции между целевой переменной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признаками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ru-RU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/>
              <p:nvPr/>
            </p:nvSpPr>
            <p:spPr>
              <a:xfrm>
                <a:off x="3134004" y="5508156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</a:t>
                </a:r>
                <a:endParaRPr lang="ru-RU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4004" y="5508156"/>
                <a:ext cx="1096903" cy="338554"/>
              </a:xfrm>
              <a:prstGeom prst="rect">
                <a:avLst/>
              </a:prstGeom>
              <a:blipFill>
                <a:blip r:embed="rId3"/>
                <a:stretch>
                  <a:fillRect t="-5455" r="-2778" b="-236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/>
              <p:nvPr/>
            </p:nvSpPr>
            <p:spPr>
              <a:xfrm>
                <a:off x="6581388" y="5498858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0,434</a:t>
                </a:r>
              </a:p>
            </p:txBody>
          </p:sp>
        </mc:Choice>
        <mc:Fallback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388" y="5498858"/>
                <a:ext cx="1096903" cy="338554"/>
              </a:xfrm>
              <a:prstGeom prst="rect">
                <a:avLst/>
              </a:prstGeom>
              <a:blipFill>
                <a:blip r:embed="rId4"/>
                <a:stretch>
                  <a:fillRect t="-5357" r="-2222" b="-214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0C758AED-A001-4E6C-A80B-D27A514445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951" y="2143038"/>
            <a:ext cx="5095136" cy="3376459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0137C5C-5179-4642-A9DC-1FEFD17F8F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7984" y="2141306"/>
            <a:ext cx="3337653" cy="3378191"/>
          </a:xfrm>
          <a:prstGeom prst="rect">
            <a:avLst/>
          </a:prstGeom>
        </p:spPr>
      </p:pic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52D7CA9F-3D9A-4D79-A277-003800426DC9}"/>
              </a:ext>
            </a:extLst>
          </p:cNvPr>
          <p:cNvSpPr/>
          <p:nvPr/>
        </p:nvSpPr>
        <p:spPr>
          <a:xfrm>
            <a:off x="733426" y="5835999"/>
            <a:ext cx="11345524" cy="877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Применение коэффициента детерминации для МНК </a:t>
            </a:r>
          </a:p>
          <a:p>
            <a:r>
              <a:rPr lang="ru-RU" sz="17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1. Для оценки принципиальной возможности построения приемлемой модели для данного датасета.</a:t>
            </a:r>
          </a:p>
          <a:p>
            <a:r>
              <a:rPr lang="ru-RU" sz="17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2. Для </a:t>
            </a:r>
            <a:r>
              <a:rPr lang="ru-RU" sz="17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контроля подобия создаваемых обучающей и тестовой выборок (с целью предотвращения пере- и </a:t>
            </a:r>
            <a:r>
              <a:rPr lang="ru-RU" sz="1700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недообучения</a:t>
            </a:r>
            <a:r>
              <a:rPr lang="ru-RU" sz="17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ru-RU" sz="17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.</a:t>
            </a:r>
            <a:endParaRPr lang="ru-RU" sz="17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7816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9A930D4B-9357-4E62-A54D-487B0225A8DA}"/>
              </a:ext>
            </a:extLst>
          </p:cNvPr>
          <p:cNvSpPr/>
          <p:nvPr/>
        </p:nvSpPr>
        <p:spPr>
          <a:xfrm>
            <a:off x="861812" y="415395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921A9D89-CE15-4732-BD82-52369BB25E69}"/>
              </a:ext>
            </a:extLst>
          </p:cNvPr>
          <p:cNvCxnSpPr/>
          <p:nvPr/>
        </p:nvCxnSpPr>
        <p:spPr>
          <a:xfrm>
            <a:off x="861813" y="4531707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FF630B76-1095-4A1B-B5CA-81C6767E602E}"/>
              </a:ext>
            </a:extLst>
          </p:cNvPr>
          <p:cNvSpPr/>
          <p:nvPr/>
        </p:nvSpPr>
        <p:spPr>
          <a:xfrm>
            <a:off x="6096000" y="1403257"/>
            <a:ext cx="522148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1A17E9EA-15CC-4A86-AFCD-E9C519DCD0FC}"/>
              </a:ext>
            </a:extLst>
          </p:cNvPr>
          <p:cNvCxnSpPr>
            <a:cxnSpLocks/>
          </p:cNvCxnSpPr>
          <p:nvPr/>
        </p:nvCxnSpPr>
        <p:spPr>
          <a:xfrm>
            <a:off x="6092341" y="1785356"/>
            <a:ext cx="522514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0847FAC-A72D-4618-AE04-C2B3768DDB48}"/>
              </a:ext>
            </a:extLst>
          </p:cNvPr>
          <p:cNvSpPr/>
          <p:nvPr/>
        </p:nvSpPr>
        <p:spPr>
          <a:xfrm>
            <a:off x="861811" y="140325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6BD7408-43B6-4862-BD1A-5C98F187C8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0C9DC557-5581-495D-BB23-B94ADFCDEF50}"/>
              </a:ext>
            </a:extLst>
          </p:cNvPr>
          <p:cNvGrpSpPr/>
          <p:nvPr/>
        </p:nvGrpSpPr>
        <p:grpSpPr>
          <a:xfrm>
            <a:off x="2873829" y="469293"/>
            <a:ext cx="8456021" cy="661707"/>
            <a:chOff x="1476753" y="3499669"/>
            <a:chExt cx="4619247" cy="666000"/>
          </a:xfrm>
        </p:grpSpPr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D70003C4-955E-467F-96F1-C68960CDA5F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обработки базового датасета (23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286A3B8D-B315-48AD-9EFB-F044CE30BB7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3" name="Прямоугольник 58">
              <a:extLst>
                <a:ext uri="{FF2B5EF4-FFF2-40B4-BE49-F238E27FC236}">
                  <a16:creationId xmlns:a16="http://schemas.microsoft.com/office/drawing/2014/main" id="{DF012F52-6F76-4D9F-8DB5-627F1CB1104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EA1C6FA6-132E-4E5D-93D3-5F125F1B6E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2572" y="2202139"/>
            <a:ext cx="4979101" cy="134365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3C5604E5-6B52-465A-8A5C-A2437403AD9A}"/>
              </a:ext>
            </a:extLst>
          </p:cNvPr>
          <p:cNvSpPr/>
          <p:nvPr/>
        </p:nvSpPr>
        <p:spPr>
          <a:xfrm>
            <a:off x="6083633" y="1403257"/>
            <a:ext cx="523384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BEB4540-6959-4008-B0B1-BDD923E0EE96}"/>
              </a:ext>
            </a:extLst>
          </p:cNvPr>
          <p:cNvSpPr/>
          <p:nvPr/>
        </p:nvSpPr>
        <p:spPr>
          <a:xfrm>
            <a:off x="6092341" y="1837534"/>
            <a:ext cx="523384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D24FABF-389B-4EDC-B79E-E60B5BCAACCA}"/>
              </a:ext>
            </a:extLst>
          </p:cNvPr>
          <p:cNvSpPr/>
          <p:nvPr/>
        </p:nvSpPr>
        <p:spPr>
          <a:xfrm>
            <a:off x="6061165" y="3589343"/>
            <a:ext cx="530351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тренировочных значений (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GradientBoostingRegressor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C535FD3D-B6EC-4B53-BD99-7EBDA0661138}"/>
              </a:ext>
            </a:extLst>
          </p:cNvPr>
          <p:cNvSpPr/>
          <p:nvPr/>
        </p:nvSpPr>
        <p:spPr>
          <a:xfrm>
            <a:off x="861811" y="4171375"/>
            <a:ext cx="452878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73950B5D-72C2-4DEB-9B55-089BC2B4DFEA}"/>
              </a:ext>
            </a:extLst>
          </p:cNvPr>
          <p:cNvSpPr/>
          <p:nvPr/>
        </p:nvSpPr>
        <p:spPr>
          <a:xfrm>
            <a:off x="865410" y="1411966"/>
            <a:ext cx="452159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                                              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11C0B1-939E-4846-8644-CFE2262507FC}"/>
              </a:ext>
            </a:extLst>
          </p:cNvPr>
          <p:cNvSpPr/>
          <p:nvPr/>
        </p:nvSpPr>
        <p:spPr>
          <a:xfrm>
            <a:off x="865409" y="2178793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73,5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+ 0,01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28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– 0,0282 ⸱ x_9 </a:t>
            </a:r>
            <a:endParaRPr lang="ru-RU" dirty="0">
              <a:solidFill>
                <a:srgbClr val="0000FF"/>
              </a:solidFill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F0CC5DBA-FBC8-40DB-972A-5DC786093567}"/>
              </a:ext>
            </a:extLst>
          </p:cNvPr>
          <p:cNvSpPr/>
          <p:nvPr/>
        </p:nvSpPr>
        <p:spPr>
          <a:xfrm>
            <a:off x="1636421" y="2698814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70E89968-A181-480F-872D-3C546E8CAA77}"/>
              </a:ext>
            </a:extLst>
          </p:cNvPr>
          <p:cNvSpPr/>
          <p:nvPr/>
        </p:nvSpPr>
        <p:spPr>
          <a:xfrm>
            <a:off x="1653839" y="3017852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BF254BE-5DF4-473A-9439-EC1EB10D53C6}"/>
              </a:ext>
            </a:extLst>
          </p:cNvPr>
          <p:cNvSpPr/>
          <p:nvPr/>
        </p:nvSpPr>
        <p:spPr>
          <a:xfrm>
            <a:off x="861812" y="4921520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_2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1582,9 - 2,094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8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44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⸱ x_9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D0A0B077-E8C5-4577-AEFC-090E3A8A2EDD}"/>
              </a:ext>
            </a:extLst>
          </p:cNvPr>
          <p:cNvCxnSpPr/>
          <p:nvPr/>
        </p:nvCxnSpPr>
        <p:spPr>
          <a:xfrm>
            <a:off x="861811" y="1785356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EB6FF68-9FAD-45D1-B5E0-F068E07C77FB}"/>
              </a:ext>
            </a:extLst>
          </p:cNvPr>
          <p:cNvSpPr/>
          <p:nvPr/>
        </p:nvSpPr>
        <p:spPr>
          <a:xfrm>
            <a:off x="1636421" y="5436641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E4875136-F036-44DE-AE57-E5B119D7C99C}"/>
              </a:ext>
            </a:extLst>
          </p:cNvPr>
          <p:cNvSpPr/>
          <p:nvPr/>
        </p:nvSpPr>
        <p:spPr>
          <a:xfrm>
            <a:off x="1653839" y="5755679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636861C5-6476-4650-883C-9EF518AB84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1608" y="4112563"/>
            <a:ext cx="5090971" cy="2476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067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03FB93E-0A2D-4D48-BF68-C13B2D7D98F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Номер слайда 2">
            <a:extLst>
              <a:ext uri="{FF2B5EF4-FFF2-40B4-BE49-F238E27FC236}">
                <a16:creationId xmlns:a16="http://schemas.microsoft.com/office/drawing/2014/main" id="{8C03D95E-B355-4AF0-B731-AD0E241E3785}"/>
              </a:ext>
            </a:extLst>
          </p:cNvPr>
          <p:cNvSpPr txBox="1">
            <a:spLocks/>
          </p:cNvSpPr>
          <p:nvPr/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8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3905AB75-03DC-45A1-826E-C63CC3390EE2}"/>
              </a:ext>
            </a:extLst>
          </p:cNvPr>
          <p:cNvGrpSpPr/>
          <p:nvPr/>
        </p:nvGrpSpPr>
        <p:grpSpPr>
          <a:xfrm>
            <a:off x="2873829" y="469294"/>
            <a:ext cx="8708562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65C3F2A4-B3D6-464E-A880-4A04E469D90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обработки полного датасета (1023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4D7F066F-6022-4D83-BAB6-8C7D4234354A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9F7F9BB5-7069-42FE-8A16-72BF3AD7732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E882C1A9-0188-4A82-A196-21B92CE46930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59" name="Прямая соединительная линия 58">
            <a:extLst>
              <a:ext uri="{FF2B5EF4-FFF2-40B4-BE49-F238E27FC236}">
                <a16:creationId xmlns:a16="http://schemas.microsoft.com/office/drawing/2014/main" id="{4B996421-7934-4795-8889-EE8E86423194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51DFF429-C41D-4AF8-97AD-E6FF1B53986E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8E2E1686-F95E-4060-8A1C-AC7E8A9B5681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единительная линия 61">
            <a:extLst>
              <a:ext uri="{FF2B5EF4-FFF2-40B4-BE49-F238E27FC236}">
                <a16:creationId xmlns:a16="http://schemas.microsoft.com/office/drawing/2014/main" id="{1F967852-4874-4DC3-9833-F4172AF18ABB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98D09D60-A86E-447F-A4CC-301371C6F3DF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A6A31174-D62E-40AD-B0F8-1E4F8F123A89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D6659928-6A28-4075-AC08-FF7F33B37E9D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DD4DE75B-C4D0-4506-9C1B-E3B23AEADD52}"/>
              </a:ext>
            </a:extLst>
          </p:cNvPr>
          <p:cNvSpPr/>
          <p:nvPr/>
        </p:nvSpPr>
        <p:spPr>
          <a:xfrm>
            <a:off x="6365959" y="3669687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4FF5CCC1-37B9-47D2-B18D-EFFF75AEC59D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D4D64A10-6D92-4BD4-9A1E-22EAD31E688E}"/>
              </a:ext>
            </a:extLst>
          </p:cNvPr>
          <p:cNvSpPr/>
          <p:nvPr/>
        </p:nvSpPr>
        <p:spPr>
          <a:xfrm>
            <a:off x="597950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69" name="Прямая соединительная линия 68">
            <a:extLst>
              <a:ext uri="{FF2B5EF4-FFF2-40B4-BE49-F238E27FC236}">
                <a16:creationId xmlns:a16="http://schemas.microsoft.com/office/drawing/2014/main" id="{9B07458A-4669-4051-B26D-385F3DD64B59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A05217A4-84B8-4DD5-99AC-6B4542E82EB5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71" name="Рисунок 70">
            <a:extLst>
              <a:ext uri="{FF2B5EF4-FFF2-40B4-BE49-F238E27FC236}">
                <a16:creationId xmlns:a16="http://schemas.microsoft.com/office/drawing/2014/main" id="{10439568-6280-463A-AA52-DE2F91AE1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6" y="2121874"/>
            <a:ext cx="5099562" cy="1657569"/>
          </a:xfrm>
          <a:prstGeom prst="rect">
            <a:avLst/>
          </a:prstGeom>
        </p:spPr>
      </p:pic>
      <p:pic>
        <p:nvPicPr>
          <p:cNvPr id="72" name="Рисунок 71">
            <a:extLst>
              <a:ext uri="{FF2B5EF4-FFF2-40B4-BE49-F238E27FC236}">
                <a16:creationId xmlns:a16="http://schemas.microsoft.com/office/drawing/2014/main" id="{4EE7452C-6CBC-4C49-850D-3EEB34E46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059" y="4943328"/>
            <a:ext cx="5099562" cy="1674483"/>
          </a:xfrm>
          <a:prstGeom prst="rect">
            <a:avLst/>
          </a:prstGeom>
        </p:spPr>
      </p:pic>
      <p:pic>
        <p:nvPicPr>
          <p:cNvPr id="73" name="Рисунок 72">
            <a:extLst>
              <a:ext uri="{FF2B5EF4-FFF2-40B4-BE49-F238E27FC236}">
                <a16:creationId xmlns:a16="http://schemas.microsoft.com/office/drawing/2014/main" id="{49C4B82A-7879-4213-A744-623B1080AF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757" y="3953694"/>
            <a:ext cx="5033551" cy="2644111"/>
          </a:xfrm>
          <a:prstGeom prst="rect">
            <a:avLst/>
          </a:prstGeom>
        </p:spPr>
      </p:pic>
      <p:pic>
        <p:nvPicPr>
          <p:cNvPr id="74" name="Рисунок 73">
            <a:extLst>
              <a:ext uri="{FF2B5EF4-FFF2-40B4-BE49-F238E27FC236}">
                <a16:creationId xmlns:a16="http://schemas.microsoft.com/office/drawing/2014/main" id="{D711DE90-BBD9-43FB-8FAE-5370DD1F6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327" y="2253253"/>
            <a:ext cx="1203951" cy="1416297"/>
          </a:xfrm>
          <a:prstGeom prst="rect">
            <a:avLst/>
          </a:prstGeom>
        </p:spPr>
      </p:pic>
      <p:pic>
        <p:nvPicPr>
          <p:cNvPr id="75" name="Рисунок 74">
            <a:extLst>
              <a:ext uri="{FF2B5EF4-FFF2-40B4-BE49-F238E27FC236}">
                <a16:creationId xmlns:a16="http://schemas.microsoft.com/office/drawing/2014/main" id="{337434D7-4B67-434F-92E7-6D2B786CB7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4704" y="2261961"/>
            <a:ext cx="1976934" cy="1407583"/>
          </a:xfrm>
          <a:prstGeom prst="rect">
            <a:avLst/>
          </a:prstGeom>
        </p:spPr>
      </p:pic>
      <p:pic>
        <p:nvPicPr>
          <p:cNvPr id="76" name="Рисунок 75">
            <a:extLst>
              <a:ext uri="{FF2B5EF4-FFF2-40B4-BE49-F238E27FC236}">
                <a16:creationId xmlns:a16="http://schemas.microsoft.com/office/drawing/2014/main" id="{C178DD4A-B842-4522-8CB0-E921572478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79866" y="2255612"/>
            <a:ext cx="1203950" cy="140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24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6EA6465-7ED2-4249-BDC4-6E039E96D8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039579E-2B99-4920-92BA-3D746BAD5489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1D98F3F3-E1B3-422E-BBF8-D94C79D6AC42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6F2EDAF-A068-41EE-B552-674B9567A715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DCDE856-8D3B-40E4-81E2-1DDA9AEA3696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FAE4AD48-CA65-40E9-B50B-313EE82F1982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CAC8F30-FDCC-4D8A-B48B-14503CFB77E3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084CFAA1-73AC-42D4-9A76-462562A86A34}"/>
              </a:ext>
            </a:extLst>
          </p:cNvPr>
          <p:cNvGrpSpPr/>
          <p:nvPr/>
        </p:nvGrpSpPr>
        <p:grpSpPr>
          <a:xfrm>
            <a:off x="2873828" y="469294"/>
            <a:ext cx="8708563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E3AFF361-D4B9-4343-8A83-A7473EB6573B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обработки очищенного датасета (</a:t>
              </a:r>
              <a:r>
                <a:rPr lang="en-US" sz="24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строк)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B74206EB-35E4-404E-B80C-6723D5BDDC73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673C2D0D-CE5F-4B7A-8D9A-75F718304AF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6DBB0F-8E38-4BE9-A738-3AB17CA5D69B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4EAE6A0-93A5-45CE-B622-4A76CA8DC100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75976D1-AA94-4979-8A2B-939C991226BA}"/>
              </a:ext>
            </a:extLst>
          </p:cNvPr>
          <p:cNvSpPr/>
          <p:nvPr/>
        </p:nvSpPr>
        <p:spPr>
          <a:xfrm>
            <a:off x="6365959" y="3679212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D5A773C-DFE1-4912-8C34-B72DEB14CB4A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1088C3C-A65C-4A70-9112-90A0B5E452F1}"/>
              </a:ext>
            </a:extLst>
          </p:cNvPr>
          <p:cNvSpPr/>
          <p:nvPr/>
        </p:nvSpPr>
        <p:spPr>
          <a:xfrm>
            <a:off x="580532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108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                                             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E383FA63-8489-4493-9912-28421C2519AB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6F2AF9B-1736-4C06-9137-541265969184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072BB482-6A9D-4F30-B0EC-3E2F6B5B5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85" y="3935449"/>
            <a:ext cx="5123041" cy="2682362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84F99C6F-C229-495F-B793-33C36476E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4599" y="2253253"/>
            <a:ext cx="1399301" cy="1425488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469E1B94-B227-414A-985E-729DBC1E17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352" y="2257530"/>
            <a:ext cx="1993106" cy="1416298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30355AD-8E01-443A-A65A-8436A6A293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006" y="4961625"/>
            <a:ext cx="5123073" cy="1648231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EF6195AF-4144-4DA7-95FB-15969F5525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814" y="2148777"/>
            <a:ext cx="5128878" cy="165240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1FE4AEB7-74FC-4724-923C-9F7A56BCBC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4235" y="2248548"/>
            <a:ext cx="1284976" cy="1429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470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25D3ECF-79BB-4EA2-A24A-0A5D2A2810F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10</a:t>
            </a:fld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/>
              </p:cNvSpPr>
              <p:nvPr>
                <p:ph type="body" idx="13"/>
              </p:nvPr>
            </p:nvSpPr>
            <p:spPr>
              <a:xfrm>
                <a:off x="425059" y="1676400"/>
                <a:ext cx="11195441" cy="4781550"/>
              </a:xfrm>
            </p:spPr>
            <p:txBody>
              <a:bodyPr>
                <a:normAutofit lnSpcReduction="10000"/>
              </a:bodyPr>
              <a:lstStyle/>
              <a:p>
                <a:pPr marL="533400" indent="-457200" algn="just"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Рассмотрены и обработаны три варианта набора данных – базовый датасет (первые 23 строки), полный датасет (1023 строки) и очищенный от шума и помех датасет.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очистки датасета от шума и помех разработан фильтр, ядром (маской) которого являются наблюдения базового датасета.</a:t>
                </a:r>
              </a:p>
              <a:p>
                <a:pPr marL="533400" indent="-457200" algn="just"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базового датасета получены линейные функциональные зависимости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от признаков 'Поверхностная плотность, г/м2' и 'Потребление смолы, г/м2'. Для целевой переменной 'Соотношение матрица - наполнитель' обучены модели,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0,352.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полного датасета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0,012.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целевой переменной 'Соотношение матрица - наполнитель' обучена модель ИНС,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0,026.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очищенного датасета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0,737.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целевой переменной 'Соотношение матрица - наполнитель' обучена модель ИНС,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0,227.</a:t>
                </a:r>
              </a:p>
            </p:txBody>
          </p:sp>
        </mc:Choice>
        <mc:Fallback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3"/>
              </p:nvPr>
            </p:nvSpPr>
            <p:spPr>
              <a:xfrm>
                <a:off x="425059" y="1676400"/>
                <a:ext cx="11195441" cy="4781550"/>
              </a:xfrm>
              <a:blipFill>
                <a:blip r:embed="rId2"/>
                <a:stretch>
                  <a:fillRect l="-54" t="-638" r="-59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F4225B6F-871E-4DDC-9469-61C1B180AAFA}"/>
              </a:ext>
            </a:extLst>
          </p:cNvPr>
          <p:cNvGrpSpPr/>
          <p:nvPr/>
        </p:nvGrpSpPr>
        <p:grpSpPr>
          <a:xfrm>
            <a:off x="4807403" y="469294"/>
            <a:ext cx="2431597" cy="661706"/>
            <a:chOff x="1476753" y="3499669"/>
            <a:chExt cx="4619247" cy="666000"/>
          </a:xfrm>
        </p:grpSpPr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628BD638-D7AD-494B-A97B-82D1F8E598A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Выводы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D49A1D6F-DE49-45C1-9090-69586D9DAD2E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9" name="Прямоугольник 58">
              <a:extLst>
                <a:ext uri="{FF2B5EF4-FFF2-40B4-BE49-F238E27FC236}">
                  <a16:creationId xmlns:a16="http://schemas.microsoft.com/office/drawing/2014/main" id="{7948321C-34DA-470B-84A1-53F7424DD8E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5001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If,kjyVUNE_28012021">
  <a:themeElements>
    <a:clrScheme name="МГТУ10128">
      <a:dk1>
        <a:srgbClr val="000000"/>
      </a:dk1>
      <a:lt1>
        <a:srgbClr val="FFFFFF"/>
      </a:lt1>
      <a:dk2>
        <a:srgbClr val="062646"/>
      </a:dk2>
      <a:lt2>
        <a:srgbClr val="E3F0FD"/>
      </a:lt2>
      <a:accent1>
        <a:srgbClr val="0E5DAB"/>
      </a:accent1>
      <a:accent2>
        <a:srgbClr val="7BC6DF"/>
      </a:accent2>
      <a:accent3>
        <a:srgbClr val="F99D27"/>
      </a:accent3>
      <a:accent4>
        <a:srgbClr val="BDD7EE"/>
      </a:accent4>
      <a:accent5>
        <a:srgbClr val="FFC000"/>
      </a:accent5>
      <a:accent6>
        <a:srgbClr val="A5A5A5"/>
      </a:accent6>
      <a:hlink>
        <a:srgbClr val="1F75E2"/>
      </a:hlink>
      <a:folHlink>
        <a:srgbClr val="FA34DE"/>
      </a:folHlink>
    </a:clrScheme>
    <a:fontScheme name="Основная">
      <a:majorFont>
        <a:latin typeface="ALS Sector Bold"/>
        <a:ea typeface=""/>
        <a:cs typeface=""/>
      </a:majorFont>
      <a:minorFont>
        <a:latin typeface="ALS Sector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2300" dirty="0">
            <a:latin typeface="+mn-lt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2019</TotalTime>
  <Words>830</Words>
  <Application>Microsoft Office PowerPoint</Application>
  <PresentationFormat>Широкоэкранный</PresentationFormat>
  <Paragraphs>90</Paragraphs>
  <Slides>11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9" baseType="lpstr">
      <vt:lpstr>Times New Roman</vt:lpstr>
      <vt:lpstr>Open Sans</vt:lpstr>
      <vt:lpstr>Cambria Math</vt:lpstr>
      <vt:lpstr>ALS Sector Regular</vt:lpstr>
      <vt:lpstr>Arial</vt:lpstr>
      <vt:lpstr>Noto Sans Symbols</vt:lpstr>
      <vt:lpstr>ALS Sector Bold</vt:lpstr>
      <vt:lpstr>If,kjyVUNE_28012021</vt:lpstr>
      <vt:lpstr>Прогнозирование конечных свойств новых материалов (композиционных материалов)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Фомина Ольга</dc:creator>
  <cp:lastModifiedBy>Андрей</cp:lastModifiedBy>
  <cp:revision>149</cp:revision>
  <dcterms:created xsi:type="dcterms:W3CDTF">2021-02-24T09:03:25Z</dcterms:created>
  <dcterms:modified xsi:type="dcterms:W3CDTF">2023-04-20T14:45:15Z</dcterms:modified>
</cp:coreProperties>
</file>