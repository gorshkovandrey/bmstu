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61" r:id="rId4"/>
    <p:sldId id="272" r:id="rId5"/>
    <p:sldId id="269" r:id="rId6"/>
    <p:sldId id="276" r:id="rId7"/>
    <p:sldId id="273" r:id="rId8"/>
    <p:sldId id="274" r:id="rId9"/>
    <p:sldId id="275" r:id="rId10"/>
    <p:sldId id="277" r:id="rId11"/>
    <p:sldId id="260" r:id="rId12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60" autoAdjust="0"/>
  </p:normalViewPr>
  <p:slideViewPr>
    <p:cSldViewPr snapToGrid="0">
      <p:cViewPr>
        <p:scale>
          <a:sx n="100" d="100"/>
          <a:sy n="100" d="100"/>
        </p:scale>
        <p:origin x="954" y="300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3859654-30AC-457E-8701-4F1F0EB71D78}"/>
              </a:ext>
            </a:extLst>
          </p:cNvPr>
          <p:cNvSpPr/>
          <p:nvPr/>
        </p:nvSpPr>
        <p:spPr>
          <a:xfrm>
            <a:off x="10220226" y="4589611"/>
            <a:ext cx="1631472" cy="197322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3276601" y="478818"/>
            <a:ext cx="5476874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 </a:t>
              </a:r>
            </a:p>
            <a:p>
              <a:pPr algn="ctr"/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ru-RU" sz="22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после объединения отдельных его частей </a:t>
              </a:r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ru-RU" sz="2200" spc="18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999002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базовый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5AC04CF9-07A2-4A0E-B56B-7126EA1990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AB63E3-0038-492A-879C-A37C60EEB3C3}"/>
              </a:ext>
            </a:extLst>
          </p:cNvPr>
          <p:cNvSpPr/>
          <p:nvPr/>
        </p:nvSpPr>
        <p:spPr>
          <a:xfrm>
            <a:off x="10220226" y="4561035"/>
            <a:ext cx="1653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 </a:t>
            </a:r>
            <a:r>
              <a:rPr lang="ru-RU" b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Предположение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Первые 23 строки являются планом многофакторного 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эксперимента.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Следовательно, данные в этих строках являются достоверными. </a:t>
            </a: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037080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обработки датасетов 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12086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базового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7977639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73161" y="538575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5C47C8A-3BC4-4810-881E-E4D828798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4759129"/>
            <a:ext cx="6705600" cy="1924050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522918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617417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404498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390393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722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370" y="5686745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5370" y="5967947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797812" y="5252535"/>
            <a:ext cx="368562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наблюдения базового датасета (23 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797812" y="5550265"/>
            <a:ext cx="357341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наблюдения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797812" y="5843069"/>
            <a:ext cx="39367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наблюдения, ближайшие к наблюдениям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базового датасета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57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174299" y="5293963"/>
            <a:ext cx="28307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наблюдения, оставшиеся после 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фильтрации  полного  датасета;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340032" y="648190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1928834" y="631736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6752401" y="5984800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323785" y="5802841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BA1C4FA2-6EB8-4E22-A241-0B652F47B9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8962" y="1879344"/>
            <a:ext cx="3812263" cy="2993523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C0932A2A-F931-4D3E-8D0A-1AA2C75BB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044" y="1889428"/>
            <a:ext cx="3653401" cy="3003146"/>
          </a:xfrm>
          <a:prstGeom prst="rect">
            <a:avLst/>
          </a:prstGeom>
        </p:spPr>
      </p:pic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693675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5936250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149922" y="1121134"/>
            <a:ext cx="83656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помех и шума разработан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наблюдения (строки) базового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5421225" y="6202596"/>
            <a:ext cx="6656478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5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Примечание. </a:t>
            </a:r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последние 1000 строк датасета сгенерированы случайным образом, то данную </a:t>
            </a:r>
          </a:p>
          <a:p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процедуру следует рассматривать не как фильтрацию датасета, а как размножение базового датасета.</a:t>
            </a:r>
            <a:endParaRPr lang="ru-RU" sz="115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131808" y="1405305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48771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98749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B1EC7D-139A-48C3-A046-03EA68907BC3}"/>
              </a:ext>
            </a:extLst>
          </p:cNvPr>
          <p:cNvSpPr/>
          <p:nvPr/>
        </p:nvSpPr>
        <p:spPr>
          <a:xfrm>
            <a:off x="9571644" y="2578408"/>
            <a:ext cx="1885837" cy="738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65CC0B-5E0B-4E5B-B4A9-58F4F8F142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3DCA265-CB8A-4807-9732-4FD3A2A88269}"/>
              </a:ext>
            </a:extLst>
          </p:cNvPr>
          <p:cNvGrpSpPr/>
          <p:nvPr/>
        </p:nvGrpSpPr>
        <p:grpSpPr>
          <a:xfrm>
            <a:off x="2690949" y="469293"/>
            <a:ext cx="9425582" cy="666000"/>
            <a:chOff x="1352313" y="3499669"/>
            <a:chExt cx="4830153" cy="666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EC64377-F3EF-4898-A7EF-A96EE85C8064}"/>
                </a:ext>
              </a:extLst>
            </p:cNvPr>
            <p:cNvSpPr/>
            <p:nvPr/>
          </p:nvSpPr>
          <p:spPr>
            <a:xfrm>
              <a:off x="1352313" y="3499669"/>
              <a:ext cx="4830153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Коэффициенты корреляции</a:t>
              </a:r>
              <a:r>
                <a:rPr lang="en-US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endParaRPr lang="ru-RU" sz="2800" spc="180" dirty="0">
                <a:ln>
                  <a:solidFill>
                    <a:srgbClr val="065CAB"/>
                  </a:solidFill>
                </a:ln>
                <a:solidFill>
                  <a:srgbClr val="065CA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Расчет коэффициента детерминации </a:t>
              </a:r>
              <a:r>
                <a:rPr lang="en-US" sz="28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ru-RU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для МНК 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Прямоугольник 58">
              <a:extLst>
                <a:ext uri="{FF2B5EF4-FFF2-40B4-BE49-F238E27FC236}">
                  <a16:creationId xmlns:a16="http://schemas.microsoft.com/office/drawing/2014/main" id="{CBA70D64-1A83-4E56-B4F7-DE12AD0F7146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CDD1DBB6-5CDC-476B-9F20-E0C36873BE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65774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EE43AA-D3CC-4F2A-8C95-378C2090E1F9}"/>
              </a:ext>
            </a:extLst>
          </p:cNvPr>
          <p:cNvSpPr/>
          <p:nvPr/>
        </p:nvSpPr>
        <p:spPr>
          <a:xfrm>
            <a:off x="2168433" y="1782703"/>
            <a:ext cx="31681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18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0B23F40-E80C-4EDD-BE8E-9DEC91F01383}"/>
              </a:ext>
            </a:extLst>
          </p:cNvPr>
          <p:cNvSpPr/>
          <p:nvPr/>
        </p:nvSpPr>
        <p:spPr>
          <a:xfrm>
            <a:off x="2522205" y="1379176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35BDAAC-3815-41DD-9D7A-E57E76407B6C}"/>
              </a:ext>
            </a:extLst>
          </p:cNvPr>
          <p:cNvSpPr/>
          <p:nvPr/>
        </p:nvSpPr>
        <p:spPr>
          <a:xfrm>
            <a:off x="5544111" y="1779542"/>
            <a:ext cx="33161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18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/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8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80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</m:t>
                          </m:r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sz="1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𝑑𝑒𝑡𝐴</m:t>
                          </m:r>
                        </m:den>
                      </m:f>
                    </m:oMath>
                  </m:oMathPara>
                </a14:m>
                <a:endParaRPr lang="ru-RU" sz="1600" dirty="0"/>
              </a:p>
            </p:txBody>
          </p:sp>
        </mc:Choice>
        <mc:Fallback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762490-3982-421E-8019-EE77C0C2C2D1}"/>
              </a:ext>
            </a:extLst>
          </p:cNvPr>
          <p:cNvSpPr/>
          <p:nvPr/>
        </p:nvSpPr>
        <p:spPr>
          <a:xfrm>
            <a:off x="8880317" y="4493172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 парных коэффициентов межфакторной корреляции</a:t>
            </a:r>
            <a:r>
              <a:rPr lang="en-US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(между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).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F77FDD-0155-422E-B0B8-56C1288F637B}"/>
              </a:ext>
            </a:extLst>
          </p:cNvPr>
          <p:cNvSpPr/>
          <p:nvPr/>
        </p:nvSpPr>
        <p:spPr>
          <a:xfrm>
            <a:off x="8903533" y="3600125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i="1" baseline="3000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парных коэффициентов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корреляции между целевой переменной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ru-RU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/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  <a:blipFill>
                <a:blip r:embed="rId3"/>
                <a:stretch>
                  <a:fillRect t="-5455" r="-2778" b="-2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/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0,434</a:t>
                </a:r>
              </a:p>
            </p:txBody>
          </p:sp>
        </mc:Choice>
        <mc:Fallback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  <a:blipFill>
                <a:blip r:embed="rId4"/>
                <a:stretch>
                  <a:fillRect t="-5357" r="-2222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C758AED-A001-4E6C-A80B-D27A51444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951" y="2143038"/>
            <a:ext cx="5095136" cy="337645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0137C5C-5179-4642-A9DC-1FEFD17F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7984" y="2141306"/>
            <a:ext cx="3337653" cy="3378191"/>
          </a:xfrm>
          <a:prstGeom prst="rect">
            <a:avLst/>
          </a:prstGeom>
        </p:spPr>
      </p:pic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2D7CA9F-3D9A-4D79-A277-003800426DC9}"/>
              </a:ext>
            </a:extLst>
          </p:cNvPr>
          <p:cNvSpPr/>
          <p:nvPr/>
        </p:nvSpPr>
        <p:spPr>
          <a:xfrm>
            <a:off x="733426" y="5835999"/>
            <a:ext cx="11345524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Применение коэффициента детерминации для МНК </a:t>
            </a:r>
          </a:p>
          <a:p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1. Для оценки принципиальной возможности построения приемлемой модели для данного датасета.</a:t>
            </a:r>
          </a:p>
          <a:p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2. Для </a:t>
            </a:r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контроля подобия создаваемых обучающей и тестовой выборок (с целью предотвращения пере- и </a:t>
            </a:r>
            <a:r>
              <a:rPr lang="ru-RU" sz="1700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недообучения</a:t>
            </a:r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  <a:endParaRPr lang="ru-RU" sz="17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81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1539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5317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403257"/>
            <a:ext cx="522148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785356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4032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2873829" y="469293"/>
            <a:ext cx="8456021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базового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EA1C6FA6-132E-4E5D-93D3-5F125F1B6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2572" y="2202139"/>
            <a:ext cx="4979101" cy="134365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403257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837534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61165" y="3589343"/>
            <a:ext cx="53035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тренировочных значений (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GradientBoostingRegressor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1713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41196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17879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69881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01785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49215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78535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4366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7556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636861C5-6476-4650-883C-9EF518AB84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608" y="4112563"/>
            <a:ext cx="5090971" cy="247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Номер слайда 2">
            <a:extLst>
              <a:ext uri="{FF2B5EF4-FFF2-40B4-BE49-F238E27FC236}">
                <a16:creationId xmlns:a16="http://schemas.microsoft.com/office/drawing/2014/main" id="{8C03D95E-B355-4AF0-B731-AD0E241E3785}"/>
              </a:ext>
            </a:extLst>
          </p:cNvPr>
          <p:cNvSpPr txBox="1">
            <a:spLocks/>
          </p:cNvSpPr>
          <p:nvPr/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2873829" y="469294"/>
            <a:ext cx="8708562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696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2873828" y="469294"/>
            <a:ext cx="8708563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79212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5D3ECF-79BB-4EA2-A24A-0A5D2A2810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</p:spPr>
            <p:txBody>
              <a:bodyPr>
                <a:normAutofit lnSpcReduction="10000"/>
              </a:bodyPr>
              <a:lstStyle/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Рассмотрены и обработаны три варианта набора данных – базовый датасет (первые 23 строки), полный датасет (1023 строки) и очищенный от шума и помех датасет.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очистки датасета от шума и помех разработан фильтр, ядром (маской) которого являются наблюдения базового датасета.</a:t>
                </a:r>
              </a:p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базового датасета получены линейные функциональные зависимости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от признаков 'Поверхностная плотность, г/м2' и 'Потребление смолы, г/м2'. Для целевой переменной 'Соотношение матрица - наполнитель' обучены модели,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0,352.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полного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0,026.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очищенного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0,737.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0,227.</a:t>
                </a:r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  <a:blipFill>
                <a:blip r:embed="rId2"/>
                <a:stretch>
                  <a:fillRect l="-54" t="-638" r="-5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4225B6F-871E-4DDC-9469-61C1B180AAFA}"/>
              </a:ext>
            </a:extLst>
          </p:cNvPr>
          <p:cNvGrpSpPr/>
          <p:nvPr/>
        </p:nvGrpSpPr>
        <p:grpSpPr>
          <a:xfrm>
            <a:off x="4807403" y="469294"/>
            <a:ext cx="2431597" cy="661706"/>
            <a:chOff x="1476753" y="3499669"/>
            <a:chExt cx="4619247" cy="666000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8BD638-D7AD-494B-A97B-82D1F8E598A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Выводы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D49A1D6F-DE49-45C1-9090-69586D9DAD2E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9" name="Прямоугольник 58">
              <a:extLst>
                <a:ext uri="{FF2B5EF4-FFF2-40B4-BE49-F238E27FC236}">
                  <a16:creationId xmlns:a16="http://schemas.microsoft.com/office/drawing/2014/main" id="{7948321C-34DA-470B-84A1-53F7424DD8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50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1678</TotalTime>
  <Words>830</Words>
  <Application>Microsoft Office PowerPoint</Application>
  <PresentationFormat>Широкоэкранный</PresentationFormat>
  <Paragraphs>90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Times New Roman</vt:lpstr>
      <vt:lpstr>Open Sans</vt:lpstr>
      <vt:lpstr>Cambria Math</vt:lpstr>
      <vt:lpstr>ALS Sector Regular</vt:lpstr>
      <vt:lpstr>Arial</vt:lpstr>
      <vt:lpstr>Noto Sans Symbols</vt:lpstr>
      <vt:lpstr>ALS Sector Bold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149</cp:revision>
  <dcterms:created xsi:type="dcterms:W3CDTF">2021-02-24T09:03:25Z</dcterms:created>
  <dcterms:modified xsi:type="dcterms:W3CDTF">2023-04-20T09:04:24Z</dcterms:modified>
</cp:coreProperties>
</file>